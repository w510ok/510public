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30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14300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7E4B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再读西游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822960" y="208483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AI辅助古典名著深读工作台 V5.0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41248" y="260604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C9B6"/>
                </a:solidFill>
              </a:rPr>
              <a:t>从百回文本、八十一难、人物图谱到专题写作</a:t>
            </a:r>
            <a:endParaRPr lang="en-US" sz="1400" dirty="0"/>
          </a:p>
        </p:txBody>
      </p:sp>
      <p:pic>
        <p:nvPicPr>
          <p:cNvPr id="5" name="Image 0" descr="/mnt/data/v23_visual_dashboard_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1467868"/>
            <a:ext cx="4251960" cy="29621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" y="512064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4D08A"/>
                </a:solidFill>
              </a:rPr>
              <a:t>少年看神通，中年看组织，再读看心性。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23047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V5.0定位：从“生成内容”到“发布成果”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D7380"/>
                </a:solidFill>
              </a:rPr>
              <a:t>主产品不是一个网页，而是一套可读、可查、可写、可发布的成果包。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645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C2F2F"/>
                </a:solidFill>
              </a:rPr>
              <a:t>100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633"/>
                </a:solidFill>
              </a:rPr>
              <a:t>百回主题覆盖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520440" y="1645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C2F2F"/>
                </a:solidFill>
              </a:rPr>
              <a:t>81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520440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633"/>
                </a:solidFill>
              </a:rPr>
              <a:t>正式难数校核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55080" y="1645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C2F2F"/>
                </a:solidFill>
              </a:rPr>
              <a:t>6+3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355080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633"/>
                </a:solidFill>
              </a:rPr>
              <a:t>核心数据表与可视化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89720" y="1645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C2F2F"/>
                </a:solidFill>
              </a:rPr>
              <a:t>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189720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633"/>
                </a:solidFill>
              </a:rPr>
              <a:t>首批专题文章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3246120"/>
            <a:ext cx="4846320" cy="1143000"/>
          </a:xfrm>
          <a:prstGeom prst="rect">
            <a:avLst/>
          </a:prstGeom>
          <a:solidFill>
            <a:srgbClr val="FFF9EF"/>
          </a:solidFill>
          <a:ln w="12700">
            <a:solidFill>
              <a:srgbClr val="E2D3BE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246120"/>
            <a:ext cx="54864" cy="1143000"/>
          </a:xfrm>
          <a:prstGeom prst="rect">
            <a:avLst/>
          </a:prstGeom>
          <a:solidFill>
            <a:srgbClr val="8C2F2F"/>
          </a:solidFill>
          <a:ln w="12700">
            <a:solidFill>
              <a:srgbClr val="8C2F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3355848"/>
            <a:ext cx="4553712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633"/>
                </a:solidFill>
              </a:rPr>
              <a:t>V5.0的重点不是继续加功能，而是固定口径、压缩入口、形成正式发布包。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3246120"/>
            <a:ext cx="4846320" cy="1143000"/>
          </a:xfrm>
          <a:prstGeom prst="rect">
            <a:avLst/>
          </a:prstGeom>
          <a:solidFill>
            <a:srgbClr val="FFF9EF"/>
          </a:solidFill>
          <a:ln w="12700">
            <a:solidFill>
              <a:srgbClr val="E2D3BE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3246120"/>
            <a:ext cx="54864" cy="1143000"/>
          </a:xfrm>
          <a:prstGeom prst="rect">
            <a:avLst/>
          </a:prstGeom>
          <a:solidFill>
            <a:srgbClr val="C8943D"/>
          </a:solidFill>
          <a:ln w="12700">
            <a:solidFill>
              <a:srgbClr val="C894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2512" y="3355848"/>
            <a:ext cx="4553712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633"/>
                </a:solidFill>
              </a:rPr>
              <a:t>最终交付：HTML/PWA、Excel数据底座、PDF研究报告、公众号稿、读书会PPT、方法模板。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7380"/>
                </a:solidFill>
              </a:rPr>
              <a:t>再读西游 V5.0  | 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23047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全书百回地图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D7380"/>
                </a:solidFill>
              </a:rPr>
              <a:t>按叙事功能分段，而不是机械逐回堆砌。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5760720" cy="4389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633"/>
                </a:solidFill>
              </a:rPr>
              <a:t>1. 第1-7回：心猿出世、大闹天宫、五行山定心猿。
</a:t>
            </a:r>
            <a:pPr indent="0" marL="0">
              <a:buNone/>
            </a:pPr>
            <a:r>
              <a:rPr lang="en-US" sz="1500" dirty="0">
                <a:solidFill>
                  <a:srgbClr val="1F2633"/>
                </a:solidFill>
              </a:rPr>
              <a:t>2. 第8-22回：取经立项与团队成型。
</a:t>
            </a:r>
            <a:pPr indent="0" marL="0">
              <a:buNone/>
            </a:pPr>
            <a:r>
              <a:rPr lang="en-US" sz="1500" dirty="0">
                <a:solidFill>
                  <a:srgbClr val="1F2633"/>
                </a:solidFill>
              </a:rPr>
              <a:t>3. 第23-31回：四圣试禅心、三打白骨精、逐猴王。
</a:t>
            </a:r>
            <a:pPr indent="0" marL="0">
              <a:buNone/>
            </a:pPr>
            <a:r>
              <a:rPr lang="en-US" sz="1500" dirty="0">
                <a:solidFill>
                  <a:srgbClr val="1F2633"/>
                </a:solidFill>
              </a:rPr>
              <a:t>4. 第32-61回：法宝、后台、身份、欲望等复杂风险集中展开。
</a:t>
            </a:r>
            <a:pPr indent="0" marL="0">
              <a:buNone/>
            </a:pPr>
            <a:r>
              <a:rPr lang="en-US" sz="1500" dirty="0">
                <a:solidFill>
                  <a:srgbClr val="1F2633"/>
                </a:solidFill>
              </a:rPr>
              <a:t>5. 第62-83回：假权威、极端风险、亲属后台持续升级。
</a:t>
            </a:r>
            <a:pPr indent="0" marL="0">
              <a:buNone/>
            </a:pPr>
            <a:r>
              <a:rPr lang="en-US" sz="1500" dirty="0">
                <a:solidFill>
                  <a:srgbClr val="1F2633"/>
                </a:solidFill>
              </a:rPr>
              <a:t>6. 第84-100回：临近灵山、成果质量、最后一难与五圣成真。
</a:t>
            </a:r>
            <a:endParaRPr lang="en-US" sz="1500" dirty="0"/>
          </a:p>
        </p:txBody>
      </p:sp>
      <p:pic>
        <p:nvPicPr>
          <p:cNvPr id="5" name="Image 0" descr="/mnt/data/v26_evidence_dashboard_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2446420"/>
            <a:ext cx="4937760" cy="1873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7380"/>
                </a:solidFill>
              </a:rPr>
              <a:t>再读西游 V5.0  | 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23047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八十一难：风险结构也是修行结构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D7380"/>
                </a:solidFill>
              </a:rPr>
              <a:t>第99回“灾难的簿子”是校核主轴。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2F2F"/>
                </a:solidFill>
              </a:rPr>
              <a:t>团队成型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331720" y="141732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633"/>
                </a:solidFill>
              </a:rPr>
              <a:t>五行山、鹰愁涧、高老庄、流沙河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0" y="141732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D7380"/>
                </a:solidFill>
              </a:rPr>
              <a:t>角色补齐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2F2F"/>
                </a:solidFill>
              </a:rPr>
              <a:t>信任误判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331720" y="24688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633"/>
                </a:solidFill>
              </a:rPr>
              <a:t>三打白骨精、逐猴王、真假美猴王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0" y="246888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D7380"/>
                </a:solidFill>
              </a:rPr>
              <a:t>核心能力识别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5204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2F2F"/>
                </a:solidFill>
              </a:rPr>
              <a:t>假权威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331720" y="352044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633"/>
                </a:solidFill>
              </a:rPr>
              <a:t>小雷音寺、金平府、天竺国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0" y="352044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D7380"/>
                </a:solidFill>
              </a:rPr>
              <a:t>辨伪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5720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2F2F"/>
                </a:solidFill>
              </a:rPr>
              <a:t>收官校验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331720" y="45720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633"/>
                </a:solidFill>
              </a:rPr>
              <a:t>无字经、凌云渡、老鼋湿经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0" y="457200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D7380"/>
                </a:solidFill>
              </a:rPr>
              <a:t>最后一难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5669280"/>
            <a:ext cx="10149840" cy="502920"/>
          </a:xfrm>
          <a:prstGeom prst="rect">
            <a:avLst/>
          </a:prstGeom>
          <a:solidFill>
            <a:srgbClr val="FFF9EF"/>
          </a:solidFill>
          <a:ln w="12700">
            <a:solidFill>
              <a:srgbClr val="E2D3BE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669280"/>
            <a:ext cx="54864" cy="502920"/>
          </a:xfrm>
          <a:prstGeom prst="rect">
            <a:avLst/>
          </a:prstGeom>
          <a:solidFill>
            <a:srgbClr val="8C2F2F"/>
          </a:solidFill>
          <a:ln w="12700">
            <a:solidFill>
              <a:srgbClr val="8C2F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8992" y="5779008"/>
            <a:ext cx="9857232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633"/>
                </a:solidFill>
              </a:rPr>
              <a:t>快到终点时最容易放松，最后一难常常发生在“以为已经结束”之后。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7380"/>
                </a:solidFill>
              </a:rPr>
              <a:t>再读西游 V5.0  | 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23047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取经团队：使命型小组织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D7380"/>
                </a:solidFill>
              </a:rPr>
              <a:t>唐僧团队的价值不在“谁最强”，而在角色互补。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9202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23047"/>
                </a:solidFill>
              </a:rPr>
              <a:t>唐僧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77240" y="2487168"/>
            <a:ext cx="16459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633"/>
                </a:solidFill>
              </a:rPr>
              <a:t>方向与合法性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17520" y="19202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23047"/>
                </a:solidFill>
              </a:rPr>
              <a:t>悟空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017520" y="2487168"/>
            <a:ext cx="16459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633"/>
                </a:solidFill>
              </a:rPr>
              <a:t>能力与风险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57800" y="19202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23047"/>
                </a:solidFill>
              </a:rPr>
              <a:t>八戒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257800" y="2487168"/>
            <a:ext cx="16459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633"/>
                </a:solidFill>
              </a:rPr>
              <a:t>欲望与人性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98080" y="19202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23047"/>
                </a:solidFill>
              </a:rPr>
              <a:t>沙僧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498080" y="2487168"/>
            <a:ext cx="16459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633"/>
                </a:solidFill>
              </a:rPr>
              <a:t>稳定执行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738360" y="19202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23047"/>
                </a:solidFill>
              </a:rPr>
              <a:t>白龙马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738360" y="2487168"/>
            <a:ext cx="16459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633"/>
                </a:solidFill>
              </a:rPr>
              <a:t>沉默承载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4160520"/>
            <a:ext cx="10149840" cy="914400"/>
          </a:xfrm>
          <a:prstGeom prst="rect">
            <a:avLst/>
          </a:prstGeom>
          <a:solidFill>
            <a:srgbClr val="FFF9EF"/>
          </a:solidFill>
          <a:ln w="12700">
            <a:solidFill>
              <a:srgbClr val="E2D3BE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160520"/>
            <a:ext cx="54864" cy="914400"/>
          </a:xfrm>
          <a:prstGeom prst="rect">
            <a:avLst/>
          </a:prstGeom>
          <a:solidFill>
            <a:srgbClr val="C8943D"/>
          </a:solidFill>
          <a:ln w="12700">
            <a:solidFill>
              <a:srgbClr val="C894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8992" y="4270248"/>
            <a:ext cx="9857232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633"/>
                </a:solidFill>
              </a:rPr>
              <a:t>唐僧未必最能打，却必须代表目标；悟空最有能力，却必须接受边界；八戒最像普通人，却不能被开除。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7380"/>
                </a:solidFill>
              </a:rPr>
              <a:t>再读西游 V5.0  | 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23047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后台妖怪矩阵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D7380"/>
                </a:solidFill>
              </a:rPr>
              <a:t>西游世界的许多妖怪风险，本质是系统资源外溢与责任收束。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463040"/>
            <a:ext cx="5120640" cy="4389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633"/>
                </a:solidFill>
              </a:rPr>
              <a:t>1. 坐骑下界：青狮、白象、金毛犼、白鹿、九灵元圣。
</a:t>
            </a:r>
            <a:pPr indent="0" marL="0">
              <a:buNone/>
            </a:pPr>
            <a:r>
              <a:rPr lang="en-US" sz="1500" dirty="0">
                <a:solidFill>
                  <a:srgbClr val="1F2633"/>
                </a:solidFill>
              </a:rPr>
              <a:t>2. 童子携宝：金角银角、黄眉老怪。
</a:t>
            </a:r>
            <a:pPr indent="0" marL="0">
              <a:buNone/>
            </a:pPr>
            <a:r>
              <a:rPr lang="en-US" sz="1500" dirty="0">
                <a:solidFill>
                  <a:srgbClr val="1F2633"/>
                </a:solidFill>
              </a:rPr>
              <a:t>3. 亲属后台：红孩儿、鼍龙、地涌夫人。
</a:t>
            </a:r>
            <a:pPr indent="0" marL="0">
              <a:buNone/>
            </a:pPr>
            <a:r>
              <a:rPr lang="en-US" sz="1500" dirty="0">
                <a:solidFill>
                  <a:srgbClr val="1F2633"/>
                </a:solidFill>
              </a:rPr>
              <a:t>4. 非后台高风险：白骨精、六耳猕猴、蝎子精、蜈蚣精。
</a:t>
            </a:r>
            <a:pPr indent="0" marL="0">
              <a:buNone/>
            </a:pPr>
            <a:r>
              <a:rPr lang="en-US" sz="1500" dirty="0">
                <a:solidFill>
                  <a:srgbClr val="1F2633"/>
                </a:solidFill>
              </a:rPr>
              <a:t>5. 非妖之难：灭法国、凤仙郡、无字经、老鼋湿经。
</a:t>
            </a:r>
            <a:endParaRPr lang="en-US" sz="1500" dirty="0"/>
          </a:p>
        </p:txBody>
      </p:sp>
      <p:pic>
        <p:nvPicPr>
          <p:cNvPr id="5" name="Image 0" descr="/mnt/data/v25_annotation_dashboard_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2236029"/>
            <a:ext cx="5212080" cy="22945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7380"/>
                </a:solidFill>
              </a:rPr>
              <a:t>再读西游 V5.0  | 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23047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首批四篇专题文章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D7380"/>
                </a:solidFill>
              </a:rPr>
              <a:t>先做四篇最有传播力、证据链最完整的文章。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4800600" cy="1325880"/>
          </a:xfrm>
          <a:prstGeom prst="rect">
            <a:avLst/>
          </a:prstGeom>
          <a:solidFill>
            <a:srgbClr val="FFF9EF"/>
          </a:solidFill>
          <a:ln w="12700">
            <a:solidFill>
              <a:srgbClr val="E2D3BE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54864" cy="1325880"/>
          </a:xfrm>
          <a:prstGeom prst="rect">
            <a:avLst/>
          </a:prstGeom>
          <a:solidFill>
            <a:srgbClr val="8C2F2F"/>
          </a:solidFill>
          <a:ln w="12700">
            <a:solidFill>
              <a:srgbClr val="8C2F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709928"/>
            <a:ext cx="4507992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633"/>
                </a:solidFill>
              </a:rPr>
              <a:t>三打白骨精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633"/>
                </a:solidFill>
              </a:rPr>
              <a:t>专业判断为何输给表象与内部噪声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4800600" cy="1325880"/>
          </a:xfrm>
          <a:prstGeom prst="rect">
            <a:avLst/>
          </a:prstGeom>
          <a:solidFill>
            <a:srgbClr val="FFF9EF"/>
          </a:solidFill>
          <a:ln w="12700">
            <a:solidFill>
              <a:srgbClr val="E2D3BE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63640" y="1600200"/>
            <a:ext cx="54864" cy="1325880"/>
          </a:xfrm>
          <a:prstGeom prst="rect">
            <a:avLst/>
          </a:prstGeom>
          <a:solidFill>
            <a:srgbClr val="C8943D"/>
          </a:solidFill>
          <a:ln w="12700">
            <a:solidFill>
              <a:srgbClr val="C894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28232" y="1709928"/>
            <a:ext cx="4507992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633"/>
                </a:solidFill>
              </a:rPr>
              <a:t>真假美猴王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633"/>
                </a:solidFill>
              </a:rPr>
              <a:t>最难降伏的是另一个自己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794760"/>
            <a:ext cx="4800600" cy="1325880"/>
          </a:xfrm>
          <a:prstGeom prst="rect">
            <a:avLst/>
          </a:prstGeom>
          <a:solidFill>
            <a:srgbClr val="FFF9EF"/>
          </a:solidFill>
          <a:ln w="12700">
            <a:solidFill>
              <a:srgbClr val="E2D3BE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794760"/>
            <a:ext cx="54864" cy="1325880"/>
          </a:xfrm>
          <a:prstGeom prst="rect">
            <a:avLst/>
          </a:prstGeom>
          <a:solidFill>
            <a:srgbClr val="8C2F2F"/>
          </a:solidFill>
          <a:ln w="12700">
            <a:solidFill>
              <a:srgbClr val="8C2F2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3904488"/>
            <a:ext cx="4507992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633"/>
                </a:solidFill>
              </a:rPr>
              <a:t>小雷音寺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633"/>
                </a:solidFill>
              </a:rPr>
              <a:t>假权威为何比妖怪更危险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63640" y="3794760"/>
            <a:ext cx="4800600" cy="1325880"/>
          </a:xfrm>
          <a:prstGeom prst="rect">
            <a:avLst/>
          </a:prstGeom>
          <a:solidFill>
            <a:srgbClr val="FFF9EF"/>
          </a:solidFill>
          <a:ln w="12700">
            <a:solidFill>
              <a:srgbClr val="E2D3BE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3794760"/>
            <a:ext cx="54864" cy="1325880"/>
          </a:xfrm>
          <a:prstGeom prst="rect">
            <a:avLst/>
          </a:prstGeom>
          <a:solidFill>
            <a:srgbClr val="C8943D"/>
          </a:solidFill>
          <a:ln w="12700">
            <a:solidFill>
              <a:srgbClr val="C894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3904488"/>
            <a:ext cx="4507992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633"/>
                </a:solidFill>
              </a:rPr>
              <a:t>狮驼岭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633"/>
                </a:solidFill>
              </a:rPr>
              <a:t>全书最重的组织化妖怪风险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7380"/>
                </a:solidFill>
              </a:rPr>
              <a:t>再读西游 V5.0  | 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23047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AI辅助名著深读六步法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D7380"/>
                </a:solidFill>
              </a:rPr>
              <a:t>可复用到其他古典名著、历史地理和小说阅读项目。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502920" cy="502920"/>
          </a:xfrm>
          <a:prstGeom prst="rect">
            <a:avLst/>
          </a:prstGeom>
          <a:solidFill>
            <a:srgbClr val="8C2F2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53312" y="190195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633"/>
                </a:solidFill>
              </a:rPr>
              <a:t>建底本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606040" y="1828800"/>
            <a:ext cx="502920" cy="502920"/>
          </a:xfrm>
          <a:prstGeom prst="rect">
            <a:avLst/>
          </a:prstGeom>
          <a:solidFill>
            <a:srgbClr val="C894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27832" y="190195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633"/>
                </a:solidFill>
              </a:rPr>
              <a:t>建数据表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480560" y="1828800"/>
            <a:ext cx="502920" cy="502920"/>
          </a:xfrm>
          <a:prstGeom prst="rect">
            <a:avLst/>
          </a:prstGeom>
          <a:solidFill>
            <a:srgbClr val="8C2F2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102352" y="190195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633"/>
                </a:solidFill>
              </a:rPr>
              <a:t>做图谱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55080" y="1828800"/>
            <a:ext cx="502920" cy="502920"/>
          </a:xfrm>
          <a:prstGeom prst="rect">
            <a:avLst/>
          </a:prstGeom>
          <a:solidFill>
            <a:srgbClr val="C894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976872" y="190195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633"/>
                </a:solidFill>
              </a:rPr>
              <a:t>摘原文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0" y="1828800"/>
            <a:ext cx="502920" cy="502920"/>
          </a:xfrm>
          <a:prstGeom prst="rect">
            <a:avLst/>
          </a:prstGeom>
          <a:solidFill>
            <a:srgbClr val="8C2F2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851392" y="190195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633"/>
                </a:solidFill>
              </a:rPr>
              <a:t>写专题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104120" y="1828800"/>
            <a:ext cx="502920" cy="502920"/>
          </a:xfrm>
          <a:prstGeom prst="rect">
            <a:avLst/>
          </a:prstGeom>
          <a:solidFill>
            <a:srgbClr val="C894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725912" y="190195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633"/>
                </a:solidFill>
              </a:rPr>
              <a:t>做发布包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60120" y="3657600"/>
            <a:ext cx="10058400" cy="960120"/>
          </a:xfrm>
          <a:prstGeom prst="rect">
            <a:avLst/>
          </a:prstGeom>
          <a:solidFill>
            <a:srgbClr val="FFF9EF"/>
          </a:solidFill>
          <a:ln w="12700">
            <a:solidFill>
              <a:srgbClr val="E2D3BE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3657600"/>
            <a:ext cx="54864" cy="960120"/>
          </a:xfrm>
          <a:prstGeom prst="rect">
            <a:avLst/>
          </a:prstGeom>
          <a:solidFill>
            <a:srgbClr val="223047"/>
          </a:solidFill>
          <a:ln w="12700">
            <a:solidFill>
              <a:srgbClr val="2230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24712" y="3767328"/>
            <a:ext cx="9765792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633"/>
                </a:solidFill>
              </a:rPr>
              <a:t>关键不是让AI替代阅读，而是让AI帮助建立索引、发现关联、整理证据和形成可复用的写作工作流。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7380"/>
                </a:solidFill>
              </a:rPr>
              <a:t>再读西游 V5.0  | 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230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4980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E4BE"/>
                </a:solidFill>
              </a:rPr>
              <a:t>V5.0发布包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68680" y="1737360"/>
            <a:ext cx="5669280" cy="4023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633"/>
                </a:solidFill>
              </a:rPr>
              <a:t>1. HTML/PWA主入口：对外展示与手机阅读。
</a:t>
            </a:r>
            <a:pPr indent="0" marL="0">
              <a:buNone/>
            </a:pPr>
            <a:r>
              <a:rPr lang="en-US" sz="1500" dirty="0">
                <a:solidFill>
                  <a:srgbClr val="1F2633"/>
                </a:solidFill>
              </a:rPr>
              <a:t>2. Excel数据底座：证明研究不是空泛感想。
</a:t>
            </a:r>
            <a:pPr indent="0" marL="0">
              <a:buNone/>
            </a:pPr>
            <a:r>
              <a:rPr lang="en-US" sz="1500" dirty="0">
                <a:solidFill>
                  <a:srgbClr val="1F2633"/>
                </a:solidFill>
              </a:rPr>
              <a:t>3. PDF研究报告：归档、汇报、正式分享。
</a:t>
            </a:r>
            <a:pPr indent="0" marL="0">
              <a:buNone/>
            </a:pPr>
            <a:r>
              <a:rPr lang="en-US" sz="1500" dirty="0">
                <a:solidFill>
                  <a:srgbClr val="1F2633"/>
                </a:solidFill>
              </a:rPr>
              <a:t>4. 公众号连载稿：第一季四篇专题。
</a:t>
            </a:r>
            <a:pPr indent="0" marL="0">
              <a:buNone/>
            </a:pPr>
            <a:r>
              <a:rPr lang="en-US" sz="1500" dirty="0">
                <a:solidFill>
                  <a:srgbClr val="1F2633"/>
                </a:solidFill>
              </a:rPr>
              <a:t>5. 读书会PPT：讲述与传播。
</a:t>
            </a:r>
            <a:pPr indent="0" marL="0">
              <a:buNone/>
            </a:pPr>
            <a:r>
              <a:rPr lang="en-US" sz="1500" dirty="0">
                <a:solidFill>
                  <a:srgbClr val="1F2633"/>
                </a:solidFill>
              </a:rPr>
              <a:t>6. 方法模板：迁移到其他名著。
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12280" y="27432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4D08A"/>
                </a:solidFill>
              </a:rPr>
              <a:t>从读完一本书，到沉淀一种方法。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39712" y="3767328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《再读西游》不是终点，而是AI辅助深读经典的样板。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再读西游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再读西游 V5.0 读书会讲稿</dc:title>
  <dc:subject>再读西游 V5.0</dc:subject>
  <dc:creator>AI-assisted reading project</dc:creator>
  <cp:lastModifiedBy>AI-assisted reading project</cp:lastModifiedBy>
  <cp:revision>1</cp:revision>
  <dcterms:created xsi:type="dcterms:W3CDTF">2026-06-14T09:27:58Z</dcterms:created>
  <dcterms:modified xsi:type="dcterms:W3CDTF">2026-06-14T09:27:58Z</dcterms:modified>
</cp:coreProperties>
</file>